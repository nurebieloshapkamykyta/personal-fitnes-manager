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9157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9144000" cy="8458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0" y="182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188720"/>
            <a:ext cx="7863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система</a:t>
            </a:r>
            <a:endParaRPr lang="en-US" sz="3000" dirty="0"/>
          </a:p>
          <a:p>
            <a:pPr marL="0" indent="0" algn="ctr">
              <a:buNone/>
            </a:pPr>
            <a:r>
              <a:rPr lang="ru-RU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</a:t>
            </a: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ітнес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менеджменту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</a:t>
            </a:r>
            <a:r>
              <a:rPr lang="en-US" sz="3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</a:t>
            </a:r>
            <a:r>
              <a:rPr lang="ru-RU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інгом активності та харчування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2880" y="4315968"/>
            <a:ext cx="87782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ПІБ, група: </a:t>
            </a:r>
            <a:r>
              <a:rPr lang="uk-UA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Бєлошапка</a:t>
            </a: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Микита Юрійович, ПЗПІ-22-5</a:t>
            </a:r>
          </a:p>
          <a:p>
            <a:pPr marL="0" indent="0">
              <a:buNone/>
            </a:pPr>
            <a:r>
              <a:rPr lang="uk-UA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доц. кафедри Чуприна А. С.</a:t>
            </a:r>
            <a:endParaRPr lang="en-US" sz="12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2377221-F16C-4439-A164-D3C789214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9" y="194866"/>
            <a:ext cx="1685925" cy="993854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23C198E-4955-4885-B7D7-B444C5B7E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063" y="185722"/>
            <a:ext cx="2609850" cy="74295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9893BFF-BE85-4156-9FD2-7C1E55FEA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3245" y="182880"/>
            <a:ext cx="2047875" cy="723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роботи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Розробити єдину веб-платформу для комплексного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фітнес-менеджменту з персоналізованим AI-асистентом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514600"/>
            <a:ext cx="1965960" cy="21945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26517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🏃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Трекінг активності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36118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Облік фізичних тренувань,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калорій та прогресу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2514600"/>
            <a:ext cx="1965960" cy="21945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26517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🥗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14600" y="320040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Харчовий щоденник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14600" y="36118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калорій, БЖВ,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продуктів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2514600"/>
            <a:ext cx="1965960" cy="21945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26517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320040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та гейміфікація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6118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рівні, досягнення,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серії активності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12280" y="2514600"/>
            <a:ext cx="1965960" cy="21945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265176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812280" y="320040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AI-асистент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12280" y="3611880"/>
            <a:ext cx="1965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Персоналізовані поради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GPT-4o-mini</a:t>
            </a:r>
            <a:endParaRPr lang="en-US" sz="1000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BEE96F96-CD8D-416B-B9A5-19A414B495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3364" y="109728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проблеми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0EB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002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Проблеми існуючих рішень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лише на 1 аспекті (або тренування, або харчування)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5786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Розширена аналітика — лише за підписку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0723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комплексної гейміфікації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5661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Відсутній AI-асистент з особистим контекстом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05993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Залежність від зовнішніх пристроїв (Fitbit)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50876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16002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аналогів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08483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MyFitnessPal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208483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Аналітика — платна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5786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Strava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578608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Лише кардіо, без харчування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072384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Nike Training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072384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Немає харчового щоденника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5661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Fitbit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5661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Потребує пристроїв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4059936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4059936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Обмежений трекінг активності</a:t>
            </a:r>
            <a:endParaRPr lang="en-US" sz="1000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23F1CBAF-375B-41B1-A555-502EBA925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306" y="109728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та опис системи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5727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5727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5727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Автентифікація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" y="19202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ASP.NET Identity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Реєстрація, профіль, ролі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68880" y="15727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68880" y="15727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5727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Харчування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468880" y="19202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100+ продуктів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 AJAX, БЖВ, норми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5727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5727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15727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17720" y="19202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типів тренувань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MET-розрахунок калорій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5727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66560" y="15727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15727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Вага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66560" y="19202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Графік змін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Прогрес до цілі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1729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31729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3172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0040" y="35204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+ статуси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Overdue-підсвічення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468880" y="31729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468880" y="31729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28" name="Text 26"/>
          <p:cNvSpPr/>
          <p:nvPr/>
        </p:nvSpPr>
        <p:spPr>
          <a:xfrm>
            <a:off x="2468880" y="3172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Досягнення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468880" y="35204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ачівок, XP, рівні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Trigger-key система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17720" y="31729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31729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32" name="Text 30"/>
          <p:cNvSpPr/>
          <p:nvPr/>
        </p:nvSpPr>
        <p:spPr>
          <a:xfrm>
            <a:off x="4617720" y="3172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AI-асистент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17720" y="35204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SK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fallback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0" y="3172968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766560" y="3172968"/>
            <a:ext cx="1965960" cy="310896"/>
          </a:xfrm>
          <a:prstGeom prst="rect">
            <a:avLst/>
          </a:prstGeom>
          <a:solidFill>
            <a:srgbClr val="1A2B4A"/>
          </a:solidFill>
          <a:ln/>
        </p:spPr>
      </p:sp>
      <p:sp>
        <p:nvSpPr>
          <p:cNvPr id="36" name="Text 34"/>
          <p:cNvSpPr/>
          <p:nvPr/>
        </p:nvSpPr>
        <p:spPr>
          <a:xfrm>
            <a:off x="6766560" y="3172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Адмін-панель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66560" y="35204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Управління користувачами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продуктів</a:t>
            </a:r>
            <a:endParaRPr lang="en-US" sz="1000" dirty="0"/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6476CF69-BB76-4F57-8055-432C201D0F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955" y="88289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476853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403701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технологій розробки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226661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2980B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26661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74520" y="1226661"/>
            <a:ext cx="69037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11680" y="1226661"/>
            <a:ext cx="667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9 MVC · Razor Views · Bootstrap 5 · Chart.js 4.4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077053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1A6B8A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077053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74520" y="2077053"/>
            <a:ext cx="69037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011680" y="2077053"/>
            <a:ext cx="667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 13 · FluentValidation 11 · Service interfaces · DTO pattern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927445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145A72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927445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927445"/>
            <a:ext cx="69037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2927445"/>
            <a:ext cx="667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9 · SQL Server LocalDB · ASP.NET Identity · Semantic Kernel 1.32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3777837"/>
            <a:ext cx="1417320" cy="713232"/>
          </a:xfrm>
          <a:prstGeom prst="roundRect">
            <a:avLst>
              <a:gd name="adj" fmla="val 10256"/>
            </a:avLst>
          </a:prstGeom>
          <a:solidFill>
            <a:srgbClr val="0D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77837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777837"/>
            <a:ext cx="69037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blurRad="63500" dist="127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11680" y="3777837"/>
            <a:ext cx="66751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entities · Computed properties · Enums · Business logic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GPT-4o-mini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25" name="Text 23"/>
          <p:cNvSpPr/>
          <p:nvPr/>
        </p:nvSpPr>
        <p:spPr>
          <a:xfrm>
            <a:off x="324612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7220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Auth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31" name="Text 29"/>
          <p:cNvSpPr/>
          <p:nvPr/>
        </p:nvSpPr>
        <p:spPr>
          <a:xfrm>
            <a:off x="324612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Migrations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427161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33" name="Text 31"/>
          <p:cNvSpPr/>
          <p:nvPr/>
        </p:nvSpPr>
        <p:spPr>
          <a:xfrm>
            <a:off x="6172200" y="427161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Seeding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" y="463737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63737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463737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463737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Code-First Migrations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72200" y="4637373"/>
            <a:ext cx="2651760" cy="320040"/>
          </a:xfrm>
          <a:prstGeom prst="roundRect">
            <a:avLst>
              <a:gd name="adj" fmla="val 22857"/>
            </a:avLst>
          </a:prstGeom>
          <a:solidFill>
            <a:srgbClr val="E8F4FD"/>
          </a:solidFill>
          <a:ln/>
        </p:spPr>
      </p:sp>
      <p:sp>
        <p:nvSpPr>
          <p:cNvPr id="39" name="Text 37"/>
          <p:cNvSpPr/>
          <p:nvPr/>
        </p:nvSpPr>
        <p:spPr>
          <a:xfrm>
            <a:off x="6172200" y="4637373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Seeding</a:t>
            </a:r>
            <a:endParaRPr lang="en-US" sz="1000" dirty="0"/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EEB31755-2E4B-477E-8224-4B0529579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635" y="70001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програмного забезпечення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508760"/>
            <a:ext cx="8503920" cy="3200400"/>
          </a:xfrm>
          <a:prstGeom prst="roundRect">
            <a:avLst>
              <a:gd name="adj" fmla="val 2857"/>
            </a:avLst>
          </a:prstGeom>
          <a:solidFill>
            <a:srgbClr val="2980B9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874520"/>
            <a:ext cx="7589520" cy="2468880"/>
          </a:xfrm>
          <a:prstGeom prst="roundRect">
            <a:avLst>
              <a:gd name="adj" fmla="val 3704"/>
            </a:avLst>
          </a:prstGeom>
          <a:solidFill>
            <a:srgbClr val="1A6B8A"/>
          </a:solidFill>
          <a:ln/>
        </p:spPr>
      </p:sp>
      <p:sp>
        <p:nvSpPr>
          <p:cNvPr id="8" name="Shape 6"/>
          <p:cNvSpPr/>
          <p:nvPr/>
        </p:nvSpPr>
        <p:spPr>
          <a:xfrm>
            <a:off x="1234440" y="2240280"/>
            <a:ext cx="6675120" cy="1737360"/>
          </a:xfrm>
          <a:prstGeom prst="roundRect">
            <a:avLst>
              <a:gd name="adj" fmla="val 5263"/>
            </a:avLst>
          </a:prstGeom>
          <a:solidFill>
            <a:srgbClr val="145A72"/>
          </a:solidFill>
          <a:ln/>
        </p:spPr>
      </p:sp>
      <p:sp>
        <p:nvSpPr>
          <p:cNvPr id="9" name="Shape 7"/>
          <p:cNvSpPr/>
          <p:nvPr/>
        </p:nvSpPr>
        <p:spPr>
          <a:xfrm>
            <a:off x="1691640" y="2606040"/>
            <a:ext cx="5760720" cy="1005840"/>
          </a:xfrm>
          <a:prstGeom prst="roundRect">
            <a:avLst>
              <a:gd name="adj" fmla="val 9091"/>
            </a:avLst>
          </a:prstGeom>
          <a:solidFill>
            <a:srgbClr val="0D3D4F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581912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(Controllers, Views, ViewModels)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1947672"/>
            <a:ext cx="7406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(EF Core, Services, Migrations)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25880" y="231343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(DTOs, Interfaces, Validators, AutoMapper)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783080" y="27889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(Entities, Enums, Business Logic)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Залежності спрямовані всередину (Dependency Rule)</a:t>
            </a:r>
            <a:endParaRPr lang="en-US" sz="10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F2894E4-EF97-4EAB-9A4E-D49D80969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80566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Дизайн системи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536192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645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Дашборд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03911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Кільцева діаграма макросів,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гістограма калорій тижня,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графік активності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536192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645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 Автентифікація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203911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Адаптивні форми входу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реєстрації, JWT+Cookie,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AccessDenied сторінка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1536192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645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AI-чат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72200" y="2039112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ChatGPT-подібний інтерфейс,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bubble-стиль, AJAX,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розмов у сайдбарі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200400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3101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Досягнення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7033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Badge-grid: зароблені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яскраво, незароблені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grayscale+opacity 50%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3200400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91840" y="33101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Адаптивність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291840" y="37033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 grid,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сайдбар + topbar,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мобільний вигляд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80760" y="3200400"/>
            <a:ext cx="26974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72200" y="3310128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UX-деталі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72200" y="370332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fadeIn анімація карток,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translateY(-2px),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tooltip</a:t>
            </a:r>
            <a:endParaRPr lang="en-US" sz="10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BC5D032-F596-4146-953D-A392639D8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426" y="70001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74980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реалізації — Ключові рішення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E05A0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5448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Обчислювані властивості в Domain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18745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завжди актуальні — жодної синхронізації у БД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554480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0" y="160020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ApplicationUser.cs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double? Bmi =&gt;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Weight / Math.Pow(Height/100.0, 2);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double? DailyCalorieTarget =&gt;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Bmr * ActivityMultiplier;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2670048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E05A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670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67004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Trigger-key система досягнень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99008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Нові ачівки — лише рядок у БД, код не змінюється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577840" y="2670048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0" y="271576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achievement.TriggerKey == "first_workout"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 logs.Any()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achievement.TriggerKey == "goal_setter"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? goals.Any(g =&gt; g.IsCompleted)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false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3785616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E05A00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85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78561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Graceful Fallback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05840" y="410565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недоступне — користувач отримує відповідь, не помилку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77840" y="3785616"/>
            <a:ext cx="3246120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3831336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(!_skAvailable)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GetFallbackResponse(message);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Semantic Kernel call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chat.GetChatMessageAsync(...);</a:t>
            </a:r>
            <a:endParaRPr lang="en-US" sz="800" dirty="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E7072C63-5E47-433E-875E-DDEFCA55F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074" y="66850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604937"/>
            <a:ext cx="54864" cy="502920"/>
          </a:xfrm>
          <a:prstGeom prst="rect">
            <a:avLst/>
          </a:prstGeom>
          <a:solidFill>
            <a:srgbClr val="E05A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531785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Тестування програмного забезпечення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93848"/>
              </p:ext>
            </p:extLst>
          </p:nvPr>
        </p:nvGraphicFramePr>
        <p:xfrm>
          <a:off x="320040" y="1354745"/>
          <a:ext cx="8503920" cy="338328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Модуль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Сценаріїв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Ключові перевірки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Результат</a:t>
                      </a:r>
                      <a:endParaRPr lang="en-US" sz="11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A2B4A"/>
                          </a:solidFill>
                        </a:rPr>
                        <a:t>Реєстрація / Вхід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Валідація, дублі email, JWT, захист маршрутів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7A4A"/>
                          </a:solidFill>
                        </a:rPr>
                        <a:t>✅ Всі пройшли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A2B4A"/>
                          </a:solidFill>
                        </a:rPr>
                        <a:t>Харчовий щоденник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AJAX пошук, розрахунок БЖВ, прогрес-бари, 0г блокування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7A4A"/>
                          </a:solidFill>
                        </a:rPr>
                        <a:t>✅ Всі пройшли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A2B4A"/>
                          </a:solidFill>
                        </a:rPr>
                        <a:t>Трекер активності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MET-розрахунок, графік, тригер ачівки, від'ємна тривалість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7A4A"/>
                          </a:solidFill>
                        </a:rPr>
                        <a:t>✅ Всі пройшли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A2B4A"/>
                          </a:solidFill>
                        </a:rPr>
                        <a:t>Модуль цілей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Overdue статус, Complete→ачівка, 5 цілей → Goal Champion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7A4A"/>
                          </a:solidFill>
                        </a:rPr>
                        <a:t>✅ Всі пройшли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A2B4A"/>
                          </a:solidFill>
                        </a:rPr>
                        <a:t>AI-асистент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</a:rPr>
                        <a:t>Персоналізований промпт, fallback без API, нова розмова</a:t>
                      </a:r>
                      <a:endParaRPr lang="en-US" sz="9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A7A4A"/>
                          </a:solidFill>
                        </a:rPr>
                        <a:t>✅ Всі пройшли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4765457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39 сценаріїв — ручне тестування на кожному етапі розробки</a:t>
            </a:r>
            <a:endParaRPr lang="en-US" sz="1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7456FA1-97AD-4592-9A08-B0F8C6A1C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1130" y="103723"/>
            <a:ext cx="1685925" cy="99385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109728"/>
            <a:ext cx="868680" cy="457200"/>
          </a:xfrm>
          <a:prstGeom prst="roundRect">
            <a:avLst>
              <a:gd name="adj" fmla="val 10000"/>
            </a:avLst>
          </a:prstGeom>
          <a:solidFill>
            <a:srgbClr val="E05A00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109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E05A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модулів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06040" y="1143000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E05A00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11887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06040" y="19202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продуктів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базі даних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E05A00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1887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754880" y="19202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типів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активності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03720" y="1143000"/>
            <a:ext cx="1920240" cy="1417320"/>
          </a:xfrm>
          <a:prstGeom prst="roundRect">
            <a:avLst>
              <a:gd name="adj" fmla="val 7742"/>
            </a:avLst>
          </a:prstGeom>
          <a:solidFill>
            <a:srgbClr val="E05A00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11887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903720" y="19202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тестових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сценаріїв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743200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22354F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74320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Реалізовано повнофункціональну веб-платформу на ASP.NET Core 9 з Clean Architecture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264408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22354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326440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Гейміфікація через trigger-key систему досягнень, XP та рівні підвищує залученість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785616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22354F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78561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AI-асистент із персоналізованим промптом і graceful fallback забезпечує надійність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306824"/>
            <a:ext cx="8412480" cy="438912"/>
          </a:xfrm>
          <a:prstGeom prst="roundRect">
            <a:avLst>
              <a:gd name="adj" fmla="val 16667"/>
            </a:avLst>
          </a:prstGeom>
          <a:solidFill>
            <a:srgbClr val="22354F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30682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Усі 39 тестових сценаріїв пройдено успішно — система готова до використання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48006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300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E3D66128-D86A-4F24-81C2-C912C5750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703" y="80566"/>
            <a:ext cx="1318472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744</Words>
  <Application>Microsoft Office PowerPoint</Application>
  <PresentationFormat>Экран (16:9)</PresentationFormat>
  <Paragraphs>203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Програмна система фітнес-менеджменту</dc:title>
  <dc:subject>PptxGenJS Presentation</dc:subject>
  <dc:creator>PptxGenJS</dc:creator>
  <cp:lastModifiedBy>Bieloshapka Mykyta</cp:lastModifiedBy>
  <cp:revision>5</cp:revision>
  <dcterms:created xsi:type="dcterms:W3CDTF">2026-07-10T08:55:13Z</dcterms:created>
  <dcterms:modified xsi:type="dcterms:W3CDTF">2026-07-13T19:13:04Z</dcterms:modified>
</cp:coreProperties>
</file>